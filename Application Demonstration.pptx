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2" r:id="rId2"/>
    <p:sldId id="263" r:id="rId3"/>
    <p:sldId id="264" r:id="rId4"/>
    <p:sldId id="256" r:id="rId5"/>
    <p:sldId id="257" r:id="rId6"/>
    <p:sldId id="258" r:id="rId7"/>
    <p:sldId id="259" r:id="rId8"/>
    <p:sldId id="260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279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76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7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84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61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2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40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2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7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8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21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4730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455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4345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80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65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21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DA8B293-01AC-4FA5-A11C-E4605018EB0D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F7CC8FF-96EF-4615-9CF5-BA9E7449C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562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F6A5A-8F31-F14C-EB0D-1735E2CB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61" y="2301481"/>
            <a:ext cx="8534400" cy="1507067"/>
          </a:xfrm>
        </p:spPr>
        <p:txBody>
          <a:bodyPr/>
          <a:lstStyle/>
          <a:p>
            <a:r>
              <a:rPr lang="en-US" dirty="0"/>
              <a:t>Customer Complaint Triage and Response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9D217-4958-833D-2E24-0B06E885D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961" y="3675017"/>
            <a:ext cx="8534400" cy="2653818"/>
          </a:xfrm>
        </p:spPr>
        <p:txBody>
          <a:bodyPr/>
          <a:lstStyle/>
          <a:p>
            <a:r>
              <a:rPr lang="en-US" dirty="0"/>
              <a:t>Nicholas Stirling</a:t>
            </a:r>
          </a:p>
          <a:p>
            <a:r>
              <a:rPr lang="en-US" dirty="0"/>
              <a:t>Bellevue University </a:t>
            </a:r>
          </a:p>
          <a:p>
            <a:r>
              <a:rPr lang="en-US" dirty="0"/>
              <a:t>DSC670-T301 Advanced Uses of Generative AI (2265-1) </a:t>
            </a:r>
          </a:p>
          <a:p>
            <a:r>
              <a:rPr lang="en-US" dirty="0"/>
              <a:t>Professor Frank Neugebauer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F546FC31-7453-A22E-5285-4E71085907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38186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915"/>
    </mc:Choice>
    <mc:Fallback>
      <p:transition spd="slow" advTm="109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E7C3-46FF-F1E1-42AE-5C38801D3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685800"/>
            <a:ext cx="8534400" cy="1086729"/>
          </a:xfrm>
        </p:spPr>
        <p:txBody>
          <a:bodyPr>
            <a:normAutofit/>
          </a:bodyPr>
          <a:lstStyle/>
          <a:p>
            <a:r>
              <a:rPr lang="en-US" sz="3200" b="1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4C0DE-E894-A529-5D74-0E7A7F119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772529"/>
            <a:ext cx="8534400" cy="36893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Customer complaints represent a valuable source of operational and compliance information.</a:t>
            </a:r>
          </a:p>
          <a:p>
            <a:pPr marL="0" indent="0">
              <a:buNone/>
            </a:pPr>
            <a:r>
              <a:rPr lang="en-US" dirty="0"/>
              <a:t>This application seeks to increase efficiency of complaints servicing by:</a:t>
            </a:r>
          </a:p>
          <a:p>
            <a:r>
              <a:rPr lang="en-US" dirty="0"/>
              <a:t>Enhancing consistency with standardized policy-aligned responses.</a:t>
            </a:r>
          </a:p>
          <a:p>
            <a:r>
              <a:rPr lang="en-US" dirty="0"/>
              <a:t>Support early identification, triage, and classification.</a:t>
            </a:r>
          </a:p>
          <a:p>
            <a:r>
              <a:rPr lang="en-US" dirty="0"/>
              <a:t>Improve customer experience with faster, more coherent responses.</a:t>
            </a: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F51B9663-51A3-E03B-FC5A-0EDC5D3A9A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91670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420"/>
    </mc:Choice>
    <mc:Fallback>
      <p:transition spd="slow" advTm="574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6717C-0BA3-5E67-81D0-C5890EE46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35D4-1F1E-9D56-30EC-B6FD8A59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685800"/>
            <a:ext cx="8534400" cy="1086729"/>
          </a:xfrm>
        </p:spPr>
        <p:txBody>
          <a:bodyPr>
            <a:normAutofit/>
          </a:bodyPr>
          <a:lstStyle/>
          <a:p>
            <a:r>
              <a:rPr lang="en-US" sz="3200" b="1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7BE8C-6EB4-49C7-F660-AF994443B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772529"/>
            <a:ext cx="8534400" cy="36893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Publicly available synthetic complaint datasets containing structured and unstructured fields were used to train a fine tuned OpenAI model.</a:t>
            </a:r>
          </a:p>
          <a:p>
            <a:pPr marL="0" indent="0">
              <a:buNone/>
            </a:pPr>
            <a:r>
              <a:rPr lang="en-US" dirty="0"/>
              <a:t>This fine tune model will take an unstructured text complaint and output:</a:t>
            </a:r>
          </a:p>
          <a:p>
            <a:r>
              <a:rPr lang="en-US" dirty="0"/>
              <a:t>Complaint category and sub-category</a:t>
            </a:r>
          </a:p>
          <a:p>
            <a:r>
              <a:rPr lang="en-US" dirty="0"/>
              <a:t>Complaint summary</a:t>
            </a:r>
          </a:p>
          <a:p>
            <a:r>
              <a:rPr lang="en-US" dirty="0"/>
              <a:t>Generate an initial response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37DBEC9F-FB37-E473-52B0-346D4E4003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34447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266"/>
    </mc:Choice>
    <mc:Fallback>
      <p:transition spd="slow" advTm="382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C85713-9BF9-0D62-3CBA-4E222D9C1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11250" y="1074057"/>
            <a:ext cx="9969499" cy="56034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146792-B9DC-6D63-BE9B-803F3589D484}"/>
              </a:ext>
            </a:extLst>
          </p:cNvPr>
          <p:cNvSpPr txBox="1"/>
          <p:nvPr/>
        </p:nvSpPr>
        <p:spPr>
          <a:xfrm>
            <a:off x="4641667" y="278674"/>
            <a:ext cx="2908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Home screen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3CDE3ECD-C75D-CF32-F9C8-5A75CA3CB9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06116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60"/>
    </mc:Choice>
    <mc:Fallback>
      <p:transition spd="slow" advTm="15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61E6B-037C-597F-5007-C1B6F6C5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52790-B31C-4D3A-CFF6-EF0C3A886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1388361"/>
            <a:ext cx="10972799" cy="50486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EC1CA4-DAF8-4FB9-697F-E144A1FB4A6E}"/>
              </a:ext>
            </a:extLst>
          </p:cNvPr>
          <p:cNvSpPr txBox="1"/>
          <p:nvPr/>
        </p:nvSpPr>
        <p:spPr>
          <a:xfrm>
            <a:off x="4463142" y="421001"/>
            <a:ext cx="326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Error Handling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92A6453F-85AB-9477-8FC6-15565CD043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30515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520"/>
    </mc:Choice>
    <mc:Fallback>
      <p:transition spd="slow" advTm="205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8CEEE-27F1-0EE6-A031-BB068CA6E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E387A8-B700-55B4-D1D1-3A8CE17A0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0225" y="1651946"/>
            <a:ext cx="11131550" cy="47846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18D862-4371-2F20-E1A4-745149BBB2D2}"/>
              </a:ext>
            </a:extLst>
          </p:cNvPr>
          <p:cNvSpPr txBox="1"/>
          <p:nvPr/>
        </p:nvSpPr>
        <p:spPr>
          <a:xfrm>
            <a:off x="3944982" y="522514"/>
            <a:ext cx="4302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Request Processing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F768F8F9-06E1-D711-1B6E-FBFB85FBCD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57426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912"/>
    </mc:Choice>
    <mc:Fallback>
      <p:transition spd="slow" advTm="189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ABBF9-58C1-1AA4-90C6-A0C35FE5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AB3F5-E508-DC34-810A-DB70626FD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17693" y="1399614"/>
            <a:ext cx="8756613" cy="53250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C42967-A87D-BB2E-F7A1-92F3D7AC6C63}"/>
              </a:ext>
            </a:extLst>
          </p:cNvPr>
          <p:cNvSpPr txBox="1"/>
          <p:nvPr/>
        </p:nvSpPr>
        <p:spPr>
          <a:xfrm>
            <a:off x="4171403" y="426719"/>
            <a:ext cx="3849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Results Example 1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C6BDCD68-054F-4371-20DC-0CFC5C5D0E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99052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096"/>
    </mc:Choice>
    <mc:Fallback>
      <p:transition spd="slow" advTm="190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8A703-0F06-C8DC-3FB8-22657FECB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22B45-B9E0-8ADF-5417-8CA5448B4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13019" y="1159382"/>
            <a:ext cx="8965961" cy="55335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2C2E24-9D09-BCDB-A71F-FF02A2239199}"/>
              </a:ext>
            </a:extLst>
          </p:cNvPr>
          <p:cNvSpPr txBox="1"/>
          <p:nvPr/>
        </p:nvSpPr>
        <p:spPr>
          <a:xfrm>
            <a:off x="4184467" y="304799"/>
            <a:ext cx="3823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Results Example 2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62063420-DCD6-0452-E5A6-6C83FCEF6A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26251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76"/>
    </mc:Choice>
    <mc:Fallback>
      <p:transition spd="slow" advTm="140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2119-C4F8-0BE6-3267-49596A26A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4EF632-FB38-4436-5EB5-DB341290A1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7" t="10199"/>
          <a:stretch>
            <a:fillRect/>
          </a:stretch>
        </p:blipFill>
        <p:spPr>
          <a:xfrm>
            <a:off x="1636793" y="1776572"/>
            <a:ext cx="8937840" cy="49607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4BBDFA-D03E-50BD-6D52-78619666F1C1}"/>
              </a:ext>
            </a:extLst>
          </p:cNvPr>
          <p:cNvSpPr txBox="1"/>
          <p:nvPr/>
        </p:nvSpPr>
        <p:spPr>
          <a:xfrm>
            <a:off x="4114799" y="574766"/>
            <a:ext cx="39624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Results Example 3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BB9DB30E-A361-4FDF-48BF-36E6EAF1E9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70288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348"/>
    </mc:Choice>
    <mc:Fallback>
      <p:transition spd="slow" advTm="113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2DC9B-0711-1B16-081F-6E0F29DFC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35837"/>
            <a:ext cx="8534400" cy="1013135"/>
          </a:xfrm>
        </p:spPr>
        <p:txBody>
          <a:bodyPr>
            <a:normAutofit/>
          </a:bodyPr>
          <a:lstStyle/>
          <a:p>
            <a:r>
              <a:rPr lang="en-US" sz="3200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B048D-D46F-B9EC-B03F-044723205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617786"/>
            <a:ext cx="8534400" cy="3629463"/>
          </a:xfrm>
        </p:spPr>
        <p:txBody>
          <a:bodyPr/>
          <a:lstStyle/>
          <a:p>
            <a:r>
              <a:rPr lang="en-US" dirty="0"/>
              <a:t>Integration into historical organization complaint data and responses to refine fine-tuned model</a:t>
            </a:r>
          </a:p>
          <a:p>
            <a:r>
              <a:rPr lang="en-US" dirty="0"/>
              <a:t>Testing for alignment with organizational categories and policy aligned responses</a:t>
            </a:r>
          </a:p>
          <a:p>
            <a:r>
              <a:rPr lang="en-US" dirty="0"/>
              <a:t>Safeguard implementation to reduce risk of ineffective customer interaction</a:t>
            </a:r>
          </a:p>
          <a:p>
            <a:r>
              <a:rPr lang="en-US" dirty="0"/>
              <a:t>Continuous monitoring and adjustment for potential drift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9F98DFC5-3DFA-FAFB-A603-0116E5CF97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76714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408"/>
    </mc:Choice>
    <mc:Fallback>
      <p:transition spd="slow" advTm="664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74</TotalTime>
  <Words>170</Words>
  <Application>Microsoft Office PowerPoint</Application>
  <PresentationFormat>Widescreen</PresentationFormat>
  <Paragraphs>28</Paragraphs>
  <Slides>10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Slice</vt:lpstr>
      <vt:lpstr>Customer Complaint Triage and Response </vt:lpstr>
      <vt:lpstr>Objective</vt:lpstr>
      <vt:lpstr>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Stirling</dc:creator>
  <cp:lastModifiedBy>Nicholas Stirling</cp:lastModifiedBy>
  <cp:revision>5</cp:revision>
  <dcterms:created xsi:type="dcterms:W3CDTF">2026-05-23T00:20:38Z</dcterms:created>
  <dcterms:modified xsi:type="dcterms:W3CDTF">2026-05-28T01:35:28Z</dcterms:modified>
</cp:coreProperties>
</file>